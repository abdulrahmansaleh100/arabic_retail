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B2631"/>
                </a:solidFill>
                <a:latin typeface="Arial" panose="020B0604020202020204"/>
              </a:rPr>
              <a:t>الإيراد الشهري (جنيه) — ذروة رمضان في مارس مميزة بالبرتقالي</a:t>
            </a:r>
            <a:endParaRPr sz="11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</c:v>
                </c:pt>
              </c:strCache>
            </c:strRef>
          </c:tx>
          <c:spPr>
            <a:solidFill>
              <a:srgbClr val="1565A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354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أغسطس</c:v>
                </c:pt>
                <c:pt idx="8">
                  <c:v>سبتمبر</c:v>
                </c:pt>
                <c:pt idx="9">
                  <c:v>أكتوبر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18200</c:v>
                </c:pt>
                <c:pt idx="1">
                  <c:v>16800</c:v>
                </c:pt>
                <c:pt idx="2">
                  <c:v>28400</c:v>
                </c:pt>
                <c:pt idx="3">
                  <c:v>21500</c:v>
                </c:pt>
                <c:pt idx="4">
                  <c:v>19600</c:v>
                </c:pt>
                <c:pt idx="5">
                  <c:v>25800</c:v>
                </c:pt>
                <c:pt idx="6">
                  <c:v>23900</c:v>
                </c:pt>
                <c:pt idx="7">
                  <c:v>21200</c:v>
                </c:pt>
                <c:pt idx="8">
                  <c:v>20100</c:v>
                </c:pt>
                <c:pt idx="9">
                  <c:v>22800</c:v>
                </c:pt>
                <c:pt idx="10">
                  <c:v>24500</c:v>
                </c:pt>
                <c:pt idx="11">
                  <c:v>21900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b461768-3661-4691-b8f5-57cd8af3ced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B2631"/>
                </a:solidFill>
                <a:latin typeface="Arial" panose="020B0604020202020204"/>
              </a:rPr>
              <a:t>نسبة النمو من شهر لشهر ٪ — الأخضر ارتفاع والأحمر انخفاض</a:t>
            </a:r>
            <a:endParaRPr sz="11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النمو ٪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900" b="0" i="0" u="none" strike="noStrike" kern="1200" baseline="0">
                    <a:solidFill>
                      <a:srgbClr val="1B263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أغسطس</c:v>
                </c:pt>
                <c:pt idx="8">
                  <c:v>سبتمبر</c:v>
                </c:pt>
                <c:pt idx="9">
                  <c:v>أكتوبر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-7.7</c:v>
                </c:pt>
                <c:pt idx="2">
                  <c:v>69</c:v>
                </c:pt>
                <c:pt idx="3">
                  <c:v>-24.3</c:v>
                </c:pt>
                <c:pt idx="4">
                  <c:v>-8.8</c:v>
                </c:pt>
                <c:pt idx="5">
                  <c:v>31.6</c:v>
                </c:pt>
                <c:pt idx="6">
                  <c:v>-7.4</c:v>
                </c:pt>
                <c:pt idx="7">
                  <c:v>-11.3</c:v>
                </c:pt>
                <c:pt idx="8">
                  <c:v>-5.2</c:v>
                </c:pt>
                <c:pt idx="9">
                  <c:v>13.4</c:v>
                </c:pt>
                <c:pt idx="10">
                  <c:v>7.5</c:v>
                </c:pt>
                <c:pt idx="11">
                  <c:v>-10.6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4453ee3-0705-41c1-ba6a-22059cb6a4a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1B2631"/>
                </a:solidFill>
                <a:latin typeface="Arial" panose="020B0604020202020204"/>
              </a:rPr>
              <a:t>أعلى ١٢ منتجاً في الإيراد — برتقالي=أ  أزرق=ب  رمادي=ج</a:t>
            </a:r>
            <a:endParaRPr sz="10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</c:v>
                </c:pt>
              </c:strCache>
            </c:strRef>
          </c:tx>
          <c:spPr>
            <a:solidFill>
              <a:srgbClr val="D354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354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354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354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354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354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D6D7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D6D7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5D6D7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5D6D7E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أرز ٥ كجم</c:v>
                </c:pt>
                <c:pt idx="1">
                  <c:v>مياه معدنية</c:v>
                </c:pt>
                <c:pt idx="2">
                  <c:v>عصير برتقال</c:v>
                </c:pt>
                <c:pt idx="3">
                  <c:v>زيت ذرة</c:v>
                </c:pt>
                <c:pt idx="4">
                  <c:v>شاي أحمر</c:v>
                </c:pt>
                <c:pt idx="5">
                  <c:v>صابون غسيل</c:v>
                </c:pt>
                <c:pt idx="6">
                  <c:v>شامبو</c:v>
                </c:pt>
                <c:pt idx="7">
                  <c:v>تمر مجدول</c:v>
                </c:pt>
                <c:pt idx="8">
                  <c:v>مكسرات</c:v>
                </c:pt>
                <c:pt idx="9">
                  <c:v>معجون أسنان</c:v>
                </c:pt>
                <c:pt idx="10">
                  <c:v>منظف أرضيات</c:v>
                </c:pt>
                <c:pt idx="11">
                  <c:v>قهوة فورية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9200</c:v>
                </c:pt>
                <c:pt idx="1">
                  <c:v>8100</c:v>
                </c:pt>
                <c:pt idx="2">
                  <c:v>7400</c:v>
                </c:pt>
                <c:pt idx="3">
                  <c:v>6800</c:v>
                </c:pt>
                <c:pt idx="4">
                  <c:v>6200</c:v>
                </c:pt>
                <c:pt idx="5">
                  <c:v>4800</c:v>
                </c:pt>
                <c:pt idx="6">
                  <c:v>4200</c:v>
                </c:pt>
                <c:pt idx="7">
                  <c:v>3900</c:v>
                </c:pt>
                <c:pt idx="8">
                  <c:v>3500</c:v>
                </c:pt>
                <c:pt idx="9">
                  <c:v>2800</c:v>
                </c:pt>
                <c:pt idx="10">
                  <c:v>2400</c:v>
                </c:pt>
                <c:pt idx="11">
                  <c:v>2100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aa7f80f-c5f3-4d6a-a083-2a6acb64da9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1B2631"/>
                </a:solidFill>
                <a:latin typeface="Arial" panose="020B0604020202020204"/>
              </a:rPr>
              <a:t>هامش الربح ٪ لكل فئة</a:t>
            </a:r>
            <a:endParaRPr sz="10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هامش الربح ٪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900" b="0" i="0" u="none" strike="noStrike" kern="1200" baseline="0">
                    <a:solidFill>
                      <a:srgbClr val="1B263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ملابس</c:v>
                </c:pt>
                <c:pt idx="1">
                  <c:v>عناية شخصية</c:v>
                </c:pt>
                <c:pt idx="2">
                  <c:v>أدوات مدرسية</c:v>
                </c:pt>
                <c:pt idx="3">
                  <c:v>رمضان</c:v>
                </c:pt>
                <c:pt idx="4">
                  <c:v>منظفات</c:v>
                </c:pt>
                <c:pt idx="5">
                  <c:v>مشروبات</c:v>
                </c:pt>
                <c:pt idx="6">
                  <c:v>إلكترونيات</c:v>
                </c:pt>
                <c:pt idx="7">
                  <c:v>غذاء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</c:v>
                </c:pt>
                <c:pt idx="1">
                  <c:v>45</c:v>
                </c:pt>
                <c:pt idx="2">
                  <c:v>40</c:v>
                </c:pt>
                <c:pt idx="3">
                  <c:v>35</c:v>
                </c:pt>
                <c:pt idx="4">
                  <c:v>30</c:v>
                </c:pt>
                <c:pt idx="5">
                  <c:v>25</c:v>
                </c:pt>
                <c:pt idx="6">
                  <c:v>20</c:v>
                </c:pt>
                <c:pt idx="7">
                  <c:v>18.5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d6c59f4-b268-4ac9-af32-2b5c36565db3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B2631"/>
                </a:solidFill>
                <a:latin typeface="Arial" panose="020B0604020202020204"/>
              </a:rPr>
              <a:t>إيراد الفروع (جنيه) — اللون يمثل مستوى الأداء</a:t>
            </a:r>
            <a:endParaRPr sz="11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900" b="0" i="0" u="none" strike="noStrike" kern="1200" baseline="0">
                    <a:solidFill>
                      <a:srgbClr val="1B263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المعادي</c:v>
                </c:pt>
                <c:pt idx="1">
                  <c:v>مدينة نصر</c:v>
                </c:pt>
                <c:pt idx="2">
                  <c:v>الإسكندرية</c:v>
                </c:pt>
                <c:pt idx="3">
                  <c:v>أكتوبر</c:v>
                </c:pt>
                <c:pt idx="4">
                  <c:v>أسيوط</c:v>
                </c:pt>
                <c:pt idx="5">
                  <c:v>طنطا</c:v>
                </c:pt>
                <c:pt idx="6">
                  <c:v>الزقازيق</c:v>
                </c:pt>
                <c:pt idx="7">
                  <c:v>سوهاج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42000</c:v>
                </c:pt>
                <c:pt idx="1">
                  <c:v>39200</c:v>
                </c:pt>
                <c:pt idx="2">
                  <c:v>33600</c:v>
                </c:pt>
                <c:pt idx="3">
                  <c:v>30800</c:v>
                </c:pt>
                <c:pt idx="4">
                  <c:v>22400</c:v>
                </c:pt>
                <c:pt idx="5">
                  <c:v>21000</c:v>
                </c:pt>
                <c:pt idx="6">
                  <c:v>14000</c:v>
                </c:pt>
                <c:pt idx="7">
                  <c:v>11200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349310c-dcf7-4f00-8478-9d82ea93965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1B2631"/>
                </a:solidFill>
                <a:latin typeface="Arial" panose="020B0604020202020204"/>
              </a:rPr>
              <a:t>حصة السوق ٪</a:t>
            </a:r>
            <a:endParaRPr sz="10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الحصة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bubble3D val="0"/>
            <c:spPr>
              <a:solidFill>
                <a:srgbClr val="1A7A4A"/>
              </a:solidFill>
              <a:effectLst/>
            </c:spPr>
          </c:dPt>
          <c:dPt>
            <c:idx val="2"/>
            <c:bubble3D val="0"/>
            <c:spPr>
              <a:solidFill>
                <a:srgbClr val="1565A7"/>
              </a:solidFill>
              <a:effectLst/>
            </c:spPr>
          </c:dPt>
          <c:dPt>
            <c:idx val="3"/>
            <c:bubble3D val="0"/>
            <c:spPr>
              <a:solidFill>
                <a:srgbClr val="1565A7"/>
              </a:solidFill>
              <a:effectLst/>
            </c:spPr>
          </c:dPt>
          <c:dPt>
            <c:idx val="4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المعادي</c:v>
                </c:pt>
                <c:pt idx="1">
                  <c:v>مدينة نصر</c:v>
                </c:pt>
                <c:pt idx="2">
                  <c:v>الإسكندرية</c:v>
                </c:pt>
                <c:pt idx="3">
                  <c:v>أكتوبر</c:v>
                </c:pt>
                <c:pt idx="4">
                  <c:v>أسيوط</c:v>
                </c:pt>
                <c:pt idx="5">
                  <c:v>طنطا</c:v>
                </c:pt>
                <c:pt idx="6">
                  <c:v>الزقازيق</c:v>
                </c:pt>
                <c:pt idx="7">
                  <c:v>سوهاج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14.8</c:v>
                </c:pt>
                <c:pt idx="1">
                  <c:v>13.8</c:v>
                </c:pt>
                <c:pt idx="2">
                  <c:v>11.8</c:v>
                </c:pt>
                <c:pt idx="3">
                  <c:v>10.8</c:v>
                </c:pt>
                <c:pt idx="4">
                  <c:v>7.9</c:v>
                </c:pt>
                <c:pt idx="5">
                  <c:v>7.4</c:v>
                </c:pt>
                <c:pt idx="6">
                  <c:v>4.9</c:v>
                </c:pt>
                <c:pt idx="7">
                  <c:v>3.9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800" b="0" i="0" u="none" strike="noStrike" kern="1200" baseline="0">
              <a:solidFill>
                <a:srgbClr val="5D6D7E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f7dcac0-4325-498d-ba71-61e662d911d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1B2631"/>
                </a:solidFill>
                <a:latin typeface="Arial" panose="020B0604020202020204"/>
              </a:rPr>
              <a:t>فجوة الأداء — نسبة كل فرع من أفضل فرع (المعادي = ١٠٠٪)</a:t>
            </a:r>
            <a:endParaRPr sz="10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٪ من أفضل فرع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900" b="0" i="0" u="none" strike="noStrike" kern="1200" baseline="0">
                    <a:solidFill>
                      <a:srgbClr val="1B263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المعادي</c:v>
                </c:pt>
                <c:pt idx="1">
                  <c:v>مدينة نصر</c:v>
                </c:pt>
                <c:pt idx="2">
                  <c:v>الإسكندرية</c:v>
                </c:pt>
                <c:pt idx="3">
                  <c:v>أكتوبر</c:v>
                </c:pt>
                <c:pt idx="4">
                  <c:v>أسيوط</c:v>
                </c:pt>
                <c:pt idx="5">
                  <c:v>طنطا</c:v>
                </c:pt>
                <c:pt idx="6">
                  <c:v>الزقازيق</c:v>
                </c:pt>
                <c:pt idx="7">
                  <c:v>سوهاج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93</c:v>
                </c:pt>
                <c:pt idx="2">
                  <c:v>80</c:v>
                </c:pt>
                <c:pt idx="3">
                  <c:v>73</c:v>
                </c:pt>
                <c:pt idx="4">
                  <c:v>53</c:v>
                </c:pt>
                <c:pt idx="5">
                  <c:v>50</c:v>
                </c:pt>
                <c:pt idx="6">
                  <c:v>33</c:v>
                </c:pt>
                <c:pt idx="7">
                  <c:v>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0f294c4-a78f-45dd-a67a-e60e6320f1a3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B2631"/>
                </a:solidFill>
                <a:latin typeface="Arial" panose="020B0604020202020204"/>
              </a:rPr>
              <a:t>حصة كل شريحة من الإيراد</a:t>
            </a:r>
            <a:endParaRPr sz="11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حصة الإيراد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D35400"/>
              </a:solidFill>
              <a:effectLst/>
            </c:spPr>
          </c:dPt>
          <c:dPt>
            <c:idx val="1"/>
            <c:bubble3D val="0"/>
            <c:spPr>
              <a:solidFill>
                <a:srgbClr val="1565A7"/>
              </a:solidFill>
              <a:effectLst/>
            </c:spPr>
          </c:dPt>
          <c:dPt>
            <c:idx val="2"/>
            <c:bubble3D val="0"/>
            <c:spPr>
              <a:solidFill>
                <a:srgbClr val="5D6D7E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كبار العملاء (١٥٪)</c:v>
                </c:pt>
                <c:pt idx="1">
                  <c:v>العملاء المتوسطون (٤٥٪)</c:v>
                </c:pt>
                <c:pt idx="2">
                  <c:v>العملاء النادرون (٤٠٪)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35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rgbClr val="1B263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3385728-9689-4db0-ba73-5ef15c0f296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B2631"/>
                </a:solidFill>
                <a:latin typeface="Arial" panose="020B0604020202020204"/>
              </a:rPr>
              <a:t>قيمة العميل المتوقعة ٣ سنوات حسب تصنيف RFM</a:t>
            </a:r>
            <a:endParaRPr sz="11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قيمة العميل ٣ سنوات (جنيه)</c:v>
                </c:pt>
              </c:strCache>
            </c:strRef>
          </c:tx>
          <c:spPr>
            <a:solidFill>
              <a:srgbClr val="D354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354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D6D7E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900" b="0" i="0" u="none" strike="noStrike" kern="1200" baseline="0">
                    <a:solidFill>
                      <a:srgbClr val="1B263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ذهبي</c:v>
                </c:pt>
                <c:pt idx="1">
                  <c:v>مميز</c:v>
                </c:pt>
                <c:pt idx="2">
                  <c:v>عادي</c:v>
                </c:pt>
                <c:pt idx="3">
                  <c:v>نائم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23490</c:v>
                </c:pt>
                <c:pt idx="1">
                  <c:v>9960</c:v>
                </c:pt>
                <c:pt idx="2">
                  <c:v>3240</c:v>
                </c:pt>
                <c:pt idx="3">
                  <c:v>495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0719da0-43b7-466e-8547-d5f855d11099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B2631"/>
                </a:solidFill>
                <a:latin typeface="Arial" panose="020B0604020202020204"/>
              </a:rPr>
              <a:t>توزيع طرق الدفع الكلي</a:t>
            </a:r>
            <a:endParaRPr sz="11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المعاملات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565A7"/>
              </a:solidFill>
              <a:effectLst/>
            </c:spPr>
          </c:dPt>
          <c:dPt>
            <c:idx val="1"/>
            <c:bubble3D val="0"/>
            <c:spPr>
              <a:solidFill>
                <a:srgbClr val="D35400"/>
              </a:solidFill>
              <a:effectLst/>
            </c:spPr>
          </c:dPt>
          <c:dPt>
            <c:idx val="2"/>
            <c:bubble3D val="0"/>
            <c:spPr>
              <a:solidFill>
                <a:srgbClr val="5D6D7E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بطاقة ائتمان</c:v>
                </c:pt>
                <c:pt idx="1">
                  <c:v>أونلاين</c:v>
                </c:pt>
                <c:pt idx="2">
                  <c:v>نقدي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32</c:v>
                </c:pt>
                <c:pt idx="2">
                  <c:v>28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rgbClr val="1B263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d3b469b-a7ec-44e8-a6df-b2aea95ab33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B2631"/>
                </a:solidFill>
                <a:latin typeface="Arial" panose="020B0604020202020204"/>
              </a:rPr>
              <a:t>مسار التحول الرقمي مقابل النقدي ٢٠٢٤ (٪)</a:t>
            </a:r>
            <a:endParaRPr sz="11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الدفع الرقمي ٪</c:v>
                </c:pt>
              </c:strCache>
            </c:strRef>
          </c:tx>
          <c:spPr>
            <a:ln w="31750" cap="flat" cmpd="sng" algn="ctr">
              <a:solidFill>
                <a:srgbClr val="1565A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A7"/>
              </a:solidFill>
              <a:ln w="9525" cap="flat" cmpd="sng" algn="ctr">
                <a:solidFill>
                  <a:srgbClr val="1565A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أغسطس</c:v>
                </c:pt>
                <c:pt idx="8">
                  <c:v>سبتمبر</c:v>
                </c:pt>
                <c:pt idx="9">
                  <c:v>أكتوبر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</c:v>
                </c:pt>
                <c:pt idx="1">
                  <c:v>33</c:v>
                </c:pt>
                <c:pt idx="2">
                  <c:v>36</c:v>
                </c:pt>
                <c:pt idx="3">
                  <c:v>39</c:v>
                </c:pt>
                <c:pt idx="4">
                  <c:v>43</c:v>
                </c:pt>
                <c:pt idx="5">
                  <c:v>47</c:v>
                </c:pt>
                <c:pt idx="6">
                  <c:v>49</c:v>
                </c:pt>
                <c:pt idx="7">
                  <c:v>51</c:v>
                </c:pt>
                <c:pt idx="8">
                  <c:v>52</c:v>
                </c:pt>
                <c:pt idx="9">
                  <c:v>54</c:v>
                </c:pt>
                <c:pt idx="10">
                  <c:v>55</c:v>
                </c:pt>
                <c:pt idx="11">
                  <c:v>57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النقدي ٪</c:v>
                </c:pt>
              </c:strCache>
            </c:strRef>
          </c:tx>
          <c:spPr>
            <a:ln w="31750" cap="flat" cmpd="sng" algn="ctr">
              <a:solidFill>
                <a:srgbClr val="5D6D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D6D7E"/>
              </a:solidFill>
              <a:ln w="9525" cap="flat" cmpd="sng" algn="ctr">
                <a:solidFill>
                  <a:srgbClr val="5D6D7E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أغسطس</c:v>
                </c:pt>
                <c:pt idx="8">
                  <c:v>سبتمبر</c:v>
                </c:pt>
                <c:pt idx="9">
                  <c:v>أكتوبر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68</c:v>
                </c:pt>
                <c:pt idx="1">
                  <c:v>67</c:v>
                </c:pt>
                <c:pt idx="2">
                  <c:v>64</c:v>
                </c:pt>
                <c:pt idx="3">
                  <c:v>61</c:v>
                </c:pt>
                <c:pt idx="4">
                  <c:v>57</c:v>
                </c:pt>
                <c:pt idx="5">
                  <c:v>53</c:v>
                </c:pt>
                <c:pt idx="6">
                  <c:v>51</c:v>
                </c:pt>
                <c:pt idx="7">
                  <c:v>49</c:v>
                </c:pt>
                <c:pt idx="8">
                  <c:v>48</c:v>
                </c:pt>
                <c:pt idx="9">
                  <c:v>46</c:v>
                </c:pt>
                <c:pt idx="10">
                  <c:v>45</c:v>
                </c:pt>
                <c:pt idx="11">
                  <c:v>43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rgbClr val="1B263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da6fd22-5c45-4df8-8883-fcd2d72bf31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1B263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B2631"/>
                </a:solidFill>
                <a:latin typeface="Arial" panose="020B0604020202020204"/>
              </a:rPr>
              <a:t>الخسارة المحتملة حسب الفرع (جنيه)</a:t>
            </a:r>
            <a:endParaRPr sz="1100" b="0" i="0" u="none" strike="noStrike">
              <a:solidFill>
                <a:srgbClr val="1B263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الخسارة المحتملة (جنيه)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354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900" b="0" i="0" u="none" strike="noStrike" kern="1200" baseline="0">
                    <a:solidFill>
                      <a:srgbClr val="1B263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سوهاج</c:v>
                </c:pt>
                <c:pt idx="1">
                  <c:v>الزقازيق</c:v>
                </c:pt>
                <c:pt idx="2">
                  <c:v>أسيوط</c:v>
                </c:pt>
                <c:pt idx="3">
                  <c:v>طنطا</c:v>
                </c:pt>
                <c:pt idx="4">
                  <c:v>الإسكندرية</c:v>
                </c:pt>
                <c:pt idx="5">
                  <c:v>أكتوبر</c:v>
                </c:pt>
                <c:pt idx="6">
                  <c:v>مدينة نصر</c:v>
                </c:pt>
                <c:pt idx="7">
                  <c:v>المعادي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1820</c:v>
                </c:pt>
                <c:pt idx="1">
                  <c:v>1240</c:v>
                </c:pt>
                <c:pt idx="2">
                  <c:v>680</c:v>
                </c:pt>
                <c:pt idx="3">
                  <c:v>470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0efe6ec-1a05-4d3b-a4de-cb6f298944a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1.xml"/><Relationship Id="rId1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6152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٠١  مؤشرات الأداء الرئيسية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السنة الكاملة ٢٠٢٤ — جميع الأرقام من جداول الفواتير وتفاصيل الفواتير والمنتجات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8105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1810512" cy="54864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1810512" cy="85587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₣٢٨٤٬٧٢٠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085746"/>
            <a:ext cx="181051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إجمالي</a:t>
            </a:r>
            <a:r>
              <a:rPr lang="ar-BH" alt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الإيراد</a:t>
            </a: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442362"/>
            <a:ext cx="181051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BH" alt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الكاملة</a:t>
            </a:r>
            <a:r>
              <a:rPr lang="ar-BH" alt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سنه 2024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051560"/>
            <a:ext cx="18105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1051560"/>
            <a:ext cx="1810512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143000"/>
            <a:ext cx="1810512" cy="85587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₣٧٨٬٩٥٠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0" y="2085746"/>
            <a:ext cx="181051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إجمالي</a:t>
            </a:r>
            <a:r>
              <a:rPr lang="ar-BH" alt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الربح </a:t>
            </a: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442362"/>
            <a:ext cx="181051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هامش</a:t>
            </a:r>
            <a:r>
              <a:rPr lang="ar-BH" alt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٢٧.٧٪</a:t>
            </a:r>
            <a:endParaRPr lang="en-US" sz="900" dirty="0"/>
          </a:p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051560"/>
            <a:ext cx="18105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051560"/>
            <a:ext cx="1810512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143000"/>
            <a:ext cx="1810512" cy="85587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354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₣٥٨١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251960" y="2085746"/>
            <a:ext cx="181051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متوسط</a:t>
            </a:r>
            <a:r>
              <a:rPr lang="ar-BH" alt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قيمة</a:t>
            </a:r>
            <a:r>
              <a:rPr lang="ar-BH" alt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</a:t>
            </a: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الطلب</a:t>
            </a:r>
            <a:endParaRPr lang="ar-BH" altLang="en-US" sz="1000" b="1" dirty="0">
              <a:solidFill>
                <a:srgbClr val="1B263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51960" y="2442362"/>
            <a:ext cx="181051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لكل</a:t>
            </a:r>
            <a:r>
              <a:rPr lang="ar-BH" alt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فاتورة</a:t>
            </a: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51560"/>
            <a:ext cx="18105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051560"/>
            <a:ext cx="1810512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143000"/>
            <a:ext cx="1810512" cy="85587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6C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٤٩٠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0" y="2085746"/>
            <a:ext cx="181051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الفواتير</a:t>
            </a:r>
            <a:r>
              <a:rPr lang="ar-BH" alt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الصادرة</a:t>
            </a: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442362"/>
            <a:ext cx="181051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عبر</a:t>
            </a:r>
            <a:r>
              <a:rPr lang="ar-BH" alt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8 </a:t>
            </a: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فروع</a:t>
            </a:r>
            <a:endParaRPr lang="ar-BH" altLang="en-US" sz="900" i="1" dirty="0">
              <a:solidFill>
                <a:srgbClr val="5D6D7E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83880" y="1051560"/>
            <a:ext cx="18105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83880" y="1051560"/>
            <a:ext cx="1810512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1143000"/>
            <a:ext cx="1810512" cy="85587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١٤٠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183880" y="2085746"/>
            <a:ext cx="181051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العملاء النشطون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2442362"/>
            <a:ext cx="181051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من</a:t>
            </a:r>
            <a:r>
              <a:rPr lang="ar-BH" alt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أصل</a:t>
            </a:r>
            <a:r>
              <a:rPr lang="ar-BH" alt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200</a:t>
            </a: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149840" y="1051560"/>
            <a:ext cx="18105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149840" y="1051560"/>
            <a:ext cx="181051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0" y="1143000"/>
            <a:ext cx="1810512" cy="85587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٧٣٪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0149840" y="2085746"/>
            <a:ext cx="181051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فجوة أداء الفروع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49840" y="2442362"/>
            <a:ext cx="181051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أفضل مقابل أضعف</a:t>
            </a:r>
            <a:endParaRPr lang="en-US" sz="90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320040" y="2971800"/>
          <a:ext cx="8046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8458200" y="2971800"/>
            <a:ext cx="3383280" cy="3474720"/>
          </a:xfrm>
          <a:prstGeom prst="rect">
            <a:avLst/>
          </a:prstGeom>
          <a:solidFill>
            <a:srgbClr val="F8FB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38" name="Shape 35"/>
          <p:cNvSpPr/>
          <p:nvPr/>
        </p:nvSpPr>
        <p:spPr>
          <a:xfrm>
            <a:off x="11777472" y="2971800"/>
            <a:ext cx="64008" cy="34747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49640" y="3063240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D354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رسالة المساهمين الرئيسية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549640" y="3355848"/>
            <a:ext cx="3127248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هامش الربح ٢٧.٧٪ مقبول لكن قابل للتحسين بالتركيز على الفئات عالية الهامش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مارس — رمضان — يحقق أعلى ذروة مبيعات في السنة — اطلب المخزون قبل ٨ أسابيع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فجوة ٧٣٪ بين أفضل وأضعف فرع تستلزم تدخلاً هيكلياً عاجلاً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تقرير تحليلات التجزئة العربية  |  لوحة المساهمين الذكية  |  2024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6152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٠٢  الموسمية والنمو الشهري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المصدر: جداول الفواتير وتفاصيل الفواتير والفئات — ١٢ شهراً من البيانات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005840"/>
          <a:ext cx="80467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20040" y="3749040"/>
          <a:ext cx="8046720" cy="283464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463040"/>
                <a:gridCol w="2560320"/>
              </a:tblGrid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الفئة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موسم الذروة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معامل التضاعف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قرار الشراء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مواد غذائية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طوال العام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A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١.٢×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مخزون ثابت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مشروبات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يونيو–أغسطس + رمضان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٢.٠×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ضاعف في مايو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ملابس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أبريل + ديسمبر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354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٢.٥×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اشتر في فبراير ونوفمبر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إلكترونيات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ديسمبر–يناير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354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٢.٢×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عروض باقات نوفمبر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مستلزمات رمضان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مارس فقط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٤.٠×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اطلب في يناير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أدوات مدرسية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أغسطس–سبتمبر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٣.٠×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اشتر في يوليو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عناية شخصية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يونيو–أغسطس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A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١.٣×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زد في مايو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458200" y="1005840"/>
            <a:ext cx="3383280" cy="5577840"/>
          </a:xfrm>
          <a:prstGeom prst="rect">
            <a:avLst/>
          </a:prstGeom>
          <a:solidFill>
            <a:srgbClr val="F8FB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1777472" y="1005840"/>
            <a:ext cx="64008" cy="5577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49640" y="1097280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1A7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قرارات المشتريات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549640" y="1389888"/>
            <a:ext cx="3127248" cy="5074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مستلزمات رمضان: اطلب ٨ أسابيع قبل مارس — ارتفاع ٤ أضعاف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أدوات مدرسية: جهّز المخزون في يوليو لذروة أغسطس سبتمبر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الإلكترونيات: عروض الباقات في نوفمبر لذروة ديسمبر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المشروبات: ضاعف الطلبيات في مايو لموسم الصيف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تقرير تحليلات التجزئة العربية  |  لوحة المساهمين الذكية  |  2024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6152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٠٣  تحليل المنتجات — باريتو وتصنيف أ ب 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المصدر: جداول تفاصيل الفواتير والمنتجات والفئات — ٤٠ منتجاً مصنفاً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4231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423160" cy="640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D354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 — النجوم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٨ منتجات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700784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D354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٧٠٪ من الإيراد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1005840"/>
            <a:ext cx="24231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1005840"/>
            <a:ext cx="242316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115568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2E86C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ب — العاديون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1389888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٨ منتجات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1700784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2E86C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٢٠٪ من الإيراد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2120" y="1005840"/>
            <a:ext cx="24231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005840"/>
            <a:ext cx="2423160" cy="64008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115568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ج — الذيل الطويل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1389888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٢٤ منتجاً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32120" y="1700784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١٠٪ من الإيراد</a:t>
            </a:r>
            <a:endParaRPr lang="en-US" sz="12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20040" y="2514600"/>
          <a:ext cx="80467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2" name="Chart 1"/>
          <p:cNvGraphicFramePr/>
          <p:nvPr/>
        </p:nvGraphicFramePr>
        <p:xfrm>
          <a:off x="320040" y="4846320"/>
          <a:ext cx="80467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8458200" y="1005840"/>
            <a:ext cx="3383280" cy="5577840"/>
          </a:xfrm>
          <a:prstGeom prst="rect">
            <a:avLst/>
          </a:prstGeom>
          <a:solidFill>
            <a:srgbClr val="F8FB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11777472" y="1005840"/>
            <a:ext cx="64008" cy="55778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49640" y="1097280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D354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قرارات المنتجات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549640" y="1389888"/>
            <a:ext cx="3127248" cy="5074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اضمن توافر ٨ منتجات فئة أ في جميع الفروع دائماً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راجع ٢٤ منتج فئة ج كل ربع سنة وحذف الضعيف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الملابس هامش ٥٥٪ مقابل الغذاء ١٨.٥٪ — ركّز التسويق على الأعلى هامشاً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مبدأ باريتو مؤكد: ٢٠٪ منتجات تولد ٧٠٪ إيراد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تقرير تحليلات التجزئة العربية  |  لوحة المساهمين الذكية  |  2024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6152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٠٤  أداء الفروع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المصدر: جداول الفواتير والفروع — ٨ فروع مصنفة حسب الأداء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00584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995160" y="100584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2"/>
          <p:cNvGraphicFramePr/>
          <p:nvPr/>
        </p:nvGraphicFramePr>
        <p:xfrm>
          <a:off x="320040" y="5303520"/>
          <a:ext cx="941832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9829800" y="1005840"/>
            <a:ext cx="2011680" cy="4114800"/>
          </a:xfrm>
          <a:prstGeom prst="rect">
            <a:avLst/>
          </a:prstGeom>
          <a:solidFill>
            <a:srgbClr val="F8FB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11777472" y="1005840"/>
            <a:ext cx="64008" cy="4114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921240" y="1097280"/>
            <a:ext cx="17556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قرارات الفروع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9921240" y="1389888"/>
            <a:ext cx="1755648" cy="3611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سوهاج والزقازيق عند ٢٧–٣٣٪ من الأفضل — أعد هيكلتهما لنقاط بيع أصغر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المعادي ومدينة نصر = ٢٨.٦٪ من الإيراد الكلي — خطر تركيز جغرافي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أسيوط وطنطا قريبة من مستوى جيد — تسويق مستهدف يرفعهما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طبّق نموذج المعادي الناجح في مدن مجاورة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تقرير تحليلات التجزئة العربية  |  لوحة المساهمين الذكية  |  2024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6152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٠٥  ذكاء العملاء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المصدر: جداول العملاء والفواتير — ٢٠٠ عميل مصنف بنموذج RFM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00584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160520" y="1005840"/>
          <a:ext cx="3931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" y="4343400"/>
          <a:ext cx="7772400" cy="2240280"/>
        </p:xfrm>
        <a:graphic>
          <a:graphicData uri="http://schemas.openxmlformats.org/drawingml/2006/table">
            <a:tbl>
              <a:tblPr/>
              <a:tblGrid>
                <a:gridCol w="1737360"/>
                <a:gridCol w="640080"/>
                <a:gridCol w="2834640"/>
                <a:gridCol w="2560320"/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مجموعة العملاء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العدد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السلوك الشرائي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الإجراء الموصى به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354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ذهبي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١٢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D6D7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شراء متكرر وإنفاق عالٍ وحديث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مزايا ولاء حصرية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مميز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٣٥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D6D7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إنفاق عالٍ وتكرار متوسط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حملات ترقية الفئة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A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عادي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٥٨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D6D7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شراء منتظم وإنفاق متوسط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عروض بيع مشترك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نائم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٩٥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D6D7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لم يشترِ منذ ٣ أشهر أو أكثر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رسائل استرداد بعرض خاص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8229600" y="1005840"/>
            <a:ext cx="3611880" cy="5577840"/>
          </a:xfrm>
          <a:prstGeom prst="rect">
            <a:avLst/>
          </a:prstGeom>
          <a:solidFill>
            <a:srgbClr val="F8FB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11777472" y="1005840"/>
            <a:ext cx="64008" cy="55778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321040" y="1097280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D354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قرارات العملاء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321040" y="1389888"/>
            <a:ext cx="3355848" cy="5074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ذهبي = ₣٢٣٬٤٩٠ مقابل نائم = ₣٤٩٥ — فجوة ٤٧ ضعفاً في القيمة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كبار العملاء (١٥٪) يولدون ٥٥٪ من الإيراد — احمِهم أولاً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٩٥ عميل نائم = فرصة استرداد غير مستغلة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وزّع ميزانية التسويق بحسب قيمة العميل لا بحسب عددهم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تقرير تحليلات التجزئة العربية  |  لوحة المساهمين الذكية  |  2024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6152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٠٦  اتجاهات الدفع والتحول الرقمي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المصدر: جداول الفواتير والعملاء — تحليل طرق الدفع عبر ١٢ شهراً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00584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3977640" y="10058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" y="4069080"/>
          <a:ext cx="8686800" cy="25146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554480"/>
                <a:gridCol w="1554480"/>
                <a:gridCol w="2286000"/>
              </a:tblGrid>
              <a:tr h="62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الشريحة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نقدي 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بطاقة 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أونلاين 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إجمالي رقمي 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354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كبار العملاء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١٨٪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5A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٤٥٪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354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٣٧٪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٨٢٪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5A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متوسطون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٤٦٪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٣٤٪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٢٠٪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5A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٥٤٪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D6D7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نادرون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٧١٪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١٩٪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١٠٪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٢٩٪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9098280" y="1005840"/>
            <a:ext cx="2743200" cy="5577840"/>
          </a:xfrm>
          <a:prstGeom prst="rect">
            <a:avLst/>
          </a:prstGeom>
          <a:solidFill>
            <a:srgbClr val="F8FB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11777472" y="1005840"/>
            <a:ext cx="64008" cy="5577840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189720" y="1097280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1565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استراتيجية الدفع الرقمي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9189720" y="1389888"/>
            <a:ext cx="2487168" cy="5074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الدفع الرقمي ارتفع من ٣٢٪ إلى ٥٧٪ في سنة — استثمر الآن قبل المنافسين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كبار العملاء يدفعون ٨٢٪ رقمياً — تطبيق متجر يزيد ولاءهم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النادرون ٧١٪ نقدي — قدّم خصم ٣٪ للدفع الرقمي لتحويلهم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حدّث أجهزة الكاشير لجميع الفروع بتقنية الاتصال القريب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تقرير تحليلات التجزئة العربية  |  لوحة المساهمين الذكية  |  2024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6152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٠٧  مخاطر المخزون وتنبيهات الطوارئ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المصدر: جداول المخزون والمنتجات والفروع — يحتاج تحديثاً يومياً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8483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08483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2084832" cy="7022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٤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854403"/>
            <a:ext cx="20848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نفد المخزون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47011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رصيد صفر تام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208483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005840"/>
            <a:ext cx="2084832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097280"/>
            <a:ext cx="2084832" cy="7022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354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٣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1854403"/>
            <a:ext cx="20848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خطر حرج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147011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أقل من ٥٠٪ من الحد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005840"/>
            <a:ext cx="208483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05840"/>
            <a:ext cx="2084832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97280"/>
            <a:ext cx="2084832" cy="7022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٣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00600" y="1854403"/>
            <a:ext cx="20848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تحت الحد الأدنى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147011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أقل من نقطة الطلب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40880" y="1005840"/>
            <a:ext cx="208483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1005840"/>
            <a:ext cx="208483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097280"/>
            <a:ext cx="2084832" cy="70225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₣٤٬٢١٠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40880" y="1854403"/>
            <a:ext cx="20848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الخسارة المحتملة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2147011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لو لم يُعاد التخزين</a:t>
            </a:r>
            <a:endParaRPr lang="en-US" sz="9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20040" y="2606040"/>
          <a:ext cx="5303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5806440" y="2606040"/>
          <a:ext cx="6035040" cy="260604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731520"/>
                <a:gridCol w="914400"/>
                <a:gridCol w="1097280"/>
              </a:tblGrid>
              <a:tr h="372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الفرع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المنتج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الرصيد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نقطة الطلب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مستوى الخطر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E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سوهاج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أرز مصري ٥ كجم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٣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٢٠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نفد المخزون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الزقازيق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زيت ذرة ١.٥ لتر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٠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٢٠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نفد المخزون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أسيوط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عصير برتقال ١ لتر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٦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٢٠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354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خطر حرج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سوهاج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مياه معدنية ١.٥ لتر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٨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٢٠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354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خطر حرج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طنطا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شاي أحمر ٢٠٠ جرام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١٢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٢٠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39C1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تحت الحد الأدنى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الزقازيق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صابون غسيل ١ كجم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٤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٢٠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نفد المخزون</a:t>
                      </a:r>
                      <a:endParaRPr lang="en-US" sz="9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5303520"/>
            <a:ext cx="11521440" cy="1234440"/>
          </a:xfrm>
          <a:prstGeom prst="rect">
            <a:avLst/>
          </a:prstGeom>
          <a:solidFill>
            <a:srgbClr val="F8FBFF"/>
          </a:solidFill>
          <a:ln w="6350">
            <a:solidFill>
              <a:srgbClr val="D4E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11777472" y="5303520"/>
            <a:ext cx="6400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" y="5394960"/>
            <a:ext cx="11265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إجراءات فورية مطلوبة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11480" y="5687568"/>
            <a:ext cx="1126540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أعد تخزين سوهاج والزقازيق فوراً — الأرز والزيت والمياه رصيدها صفر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طبّق نظام إعادة الطلب التلقائي لـ ٨ منتجات النجوم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اضبط تنبيه تلقائي: أرسل إشعاراً لمدير الفرع عند نقص المخزون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63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هذه الصفحة تحتاج تحديثاً يومياً لا أسبوعياً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تقرير تحليلات التجزئة العربية  |  لوحة المساهمين الذكية  |  2024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6928" y="0"/>
            <a:ext cx="164592" cy="68580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التوصيات الاستراتيجية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11430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قرارات الإدارة المبنية على البيانات — مع الأثر المتوقع لكل قرار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3657600" cy="2103120"/>
          </a:xfrm>
          <a:prstGeom prst="rect">
            <a:avLst/>
          </a:prstGeom>
          <a:solidFill>
            <a:srgbClr val="0D2238"/>
          </a:solidFill>
          <a:ln w="10160">
            <a:solidFill>
              <a:srgbClr val="D3540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25880"/>
            <a:ext cx="365760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53896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354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٠١ — خطة الموسمية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34290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8D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ابنِ تقويم مشتريات خاصاً بكل فئة. جهّز مخزون رمضان قبل ٨ أسابيع. وافق الحملات التسويقية مع ذرى البيانات.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62072"/>
            <a:ext cx="3429000" cy="411480"/>
          </a:xfrm>
          <a:prstGeom prst="rect">
            <a:avLst/>
          </a:prstGeom>
          <a:solidFill>
            <a:srgbClr val="071E34"/>
          </a:solidFill>
          <a:ln w="5080">
            <a:solidFill>
              <a:srgbClr val="D35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62072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D354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الأثر: زيادة ٢٥٪ في إيراد الذروة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325880"/>
            <a:ext cx="3657600" cy="2103120"/>
          </a:xfrm>
          <a:prstGeom prst="rect">
            <a:avLst/>
          </a:prstGeom>
          <a:solidFill>
            <a:srgbClr val="0D2238"/>
          </a:solidFill>
          <a:ln w="10160">
            <a:solidFill>
              <a:srgbClr val="1565A7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325880"/>
            <a:ext cx="3657600" cy="73152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1453896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565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٠٢ — محفظة المنتجات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61688" y="1801368"/>
            <a:ext cx="34290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8D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اضمن توافر ٨ منتجات فئة أ. احذف فئة ج الضعيفة ربع سنوياً. ركّز نمو الهامش على الملابس والعناية.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61688" y="2862072"/>
            <a:ext cx="3429000" cy="411480"/>
          </a:xfrm>
          <a:prstGeom prst="rect">
            <a:avLst/>
          </a:prstGeom>
          <a:solidFill>
            <a:srgbClr val="071E34"/>
          </a:solidFill>
          <a:ln w="5080">
            <a:solidFill>
              <a:srgbClr val="1565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2862072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565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الأثر: رفع الهامش ٥–٨٪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56448" y="1325880"/>
            <a:ext cx="3657600" cy="2103120"/>
          </a:xfrm>
          <a:prstGeom prst="rect">
            <a:avLst/>
          </a:prstGeom>
          <a:solidFill>
            <a:srgbClr val="0D2238"/>
          </a:solidFill>
          <a:ln w="1016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6448" y="1325880"/>
            <a:ext cx="365760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1453896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7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٠٣ — استراتيجية الفروع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66176" y="1801368"/>
            <a:ext cx="34290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8D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أعد هيكلة سوهاج والزقازيق. ضخّ ميزانية تسويقية في أسيوط وطنطا. طبّق نموذج المعادي في مواقع جديدة.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66176" y="2862072"/>
            <a:ext cx="3429000" cy="411480"/>
          </a:xfrm>
          <a:prstGeom prst="rect">
            <a:avLst/>
          </a:prstGeom>
          <a:solidFill>
            <a:srgbClr val="071E34"/>
          </a:solidFill>
          <a:ln w="508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6176" y="2862072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A7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الأثر: زيادة ١٥٪ في إيراد الشبكة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657600"/>
            <a:ext cx="3657600" cy="2103120"/>
          </a:xfrm>
          <a:prstGeom prst="rect">
            <a:avLst/>
          </a:prstGeom>
          <a:solidFill>
            <a:srgbClr val="0D2238"/>
          </a:solidFill>
          <a:ln w="1016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657600"/>
            <a:ext cx="36576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85616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٠٤ — ولاء العملاء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133088"/>
            <a:ext cx="34290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8D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أطلق برنامج كبار العملاء المميز. أرسل رسائل استرداد لـ ٩٥ عميل نائم. وزّع الميزانية بحسب قيمة العميل.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193792"/>
            <a:ext cx="3429000" cy="411480"/>
          </a:xfrm>
          <a:prstGeom prst="rect">
            <a:avLst/>
          </a:prstGeom>
          <a:solidFill>
            <a:srgbClr val="071E34"/>
          </a:solidFill>
          <a:ln w="508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193792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الأثر: رفع متوسط قيمة العميل ٢٠٪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51960" y="3657600"/>
            <a:ext cx="3657600" cy="2103120"/>
          </a:xfrm>
          <a:prstGeom prst="rect">
            <a:avLst/>
          </a:prstGeom>
          <a:solidFill>
            <a:srgbClr val="0D2238"/>
          </a:solidFill>
          <a:ln w="10160">
            <a:solidFill>
              <a:srgbClr val="2E86C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51960" y="3657600"/>
            <a:ext cx="36576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61688" y="3785616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2E86C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٠٥ — الدفع الرقمي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61688" y="4133088"/>
            <a:ext cx="34290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8D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أنشئ محفظة رقمية بعلامة المتجر. قدّم خصم ٣٪ للدفع الرقمي لتحويل فئة النادر. حدّث جميع أجهزة الكاشير.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61688" y="5193792"/>
            <a:ext cx="3429000" cy="411480"/>
          </a:xfrm>
          <a:prstGeom prst="rect">
            <a:avLst/>
          </a:prstGeom>
          <a:solidFill>
            <a:srgbClr val="071E34"/>
          </a:solidFill>
          <a:ln w="5080">
            <a:solidFill>
              <a:srgbClr val="2E86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61688" y="5193792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2E86C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الأثر: الدفع الرقمي ٧٠٪ بنهاية ٢٠٢٥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56448" y="3657600"/>
            <a:ext cx="3657600" cy="2103120"/>
          </a:xfrm>
          <a:prstGeom prst="rect">
            <a:avLst/>
          </a:prstGeom>
          <a:solidFill>
            <a:srgbClr val="0D2238"/>
          </a:solidFill>
          <a:ln w="1016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56448" y="3657600"/>
            <a:ext cx="36576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66176" y="3785616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٠٦ — سلامة المخزون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66176" y="4133088"/>
            <a:ext cx="34290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8D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اعتمد نظام إعادة الطلب التلقائي لأفضل ٨ منتجات. اضبط تنبيهات لوحة التحكم. تقرير يومي لمديري الفروع.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66176" y="5193792"/>
            <a:ext cx="3429000" cy="411480"/>
          </a:xfrm>
          <a:prstGeom prst="rect">
            <a:avLst/>
          </a:prstGeom>
          <a:solidFill>
            <a:srgbClr val="071E34"/>
          </a:solidFill>
          <a:ln w="508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66176" y="5193792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الأثر: خفض خسائر النفاد ٩٠٪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2D4E"/>
          </a:solidFill>
          <a:ln w="12700">
            <a:solidFill>
              <a:srgbClr val="0B2D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00" dirty="0">
                <a:solidFill>
                  <a:srgbClr val="8AAF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تقرير تحليلات التجزئة العربية  |  لوحة المساهمين الذكية  | 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5062</Words>
  <Application>WPS Presentation</Application>
  <PresentationFormat>On-screen Show (16:9)</PresentationFormat>
  <Paragraphs>425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</vt:lpstr>
      <vt:lpstr>Arial</vt:lpstr>
      <vt:lpstr>Arial</vt:lpstr>
      <vt:lpstr>Calibri</vt:lpstr>
      <vt:lpstr>Microsoft YaHei</vt:lpstr>
      <vt:lpstr>Arial Unicode MS</vt:lpstr>
      <vt:lpstr>Aldhabi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تحليلات التجزئة العربية</dc:title>
  <dc:creator>PptxGenJS</dc:creator>
  <dc:subject>PptxGenJS Presentation</dc:subject>
  <cp:lastModifiedBy>abdel</cp:lastModifiedBy>
  <cp:revision>2</cp:revision>
  <dcterms:created xsi:type="dcterms:W3CDTF">2026-04-18T19:02:00Z</dcterms:created>
  <dcterms:modified xsi:type="dcterms:W3CDTF">2026-04-18T19:57:38Z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8ED7E6AAB71E4DB78D256C9C822CE602_12</vt:lpwstr>
  </property>
  <property fmtid="{D5CDD505-2E9C-101B-9397-08002B2CF9AE}" pid="3" name="KSOProductBuildVer">
    <vt:lpwstr>2057-12.2.0.23201</vt:lpwstr>
  </property>
</Properties>
</file>